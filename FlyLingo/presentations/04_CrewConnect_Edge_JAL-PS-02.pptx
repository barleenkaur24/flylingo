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JAL-PS-02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777240"/>
            <a:ext cx="160020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563C8C"/>
                </a:solidFill>
                <a:latin typeface="Segoe UI"/>
              </a:defRPr>
            </a:pPr>
            <a:r>
              <a:t>Japan Airlines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777240"/>
            <a:ext cx="278892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70697C"/>
                </a:solidFill>
                <a:latin typeface="Segoe UI"/>
              </a:defRPr>
            </a:pPr>
            <a:r>
              <a:t>Thapar Japan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3600" b="1">
                <a:solidFill>
                  <a:srgbClr val="1E1A28"/>
                </a:solidFill>
                <a:latin typeface="Segoe UI"/>
              </a:defRPr>
            </a:pPr>
            <a:r>
              <a:t>CrewConnect Edge: In-Flight Offline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563C8C"/>
                </a:solidFill>
                <a:latin typeface="Segoe UI"/>
              </a:defRPr>
            </a:pPr>
            <a:r>
              <a:t>Offline Multi-Modal Passenger-Crew Communication Across Accents &amp; Language Barriers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10515600" cy="256032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563C8C"/>
                </a:solidFill>
                <a:latin typeface="Segoe UI"/>
              </a:defRPr>
            </a:pPr>
            <a:r>
              <a:t>EXECUTIVE SUMMARY &amp; CORE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9966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defRPr sz="1400" b="0">
                <a:solidFill>
                  <a:srgbClr val="34303E"/>
                </a:solidFill>
                <a:latin typeface="Segoe UI"/>
              </a:defRPr>
            </a:pPr>
            <a:r>
              <a:t>Indian passengers traveling internationally frequently face language barriers, regional accents, or age-related communication challenges when interacting with Japanese cabin crew. Cloud-based translation services fail at 35,000 feet due to intermittent or non-existent satellite connectivity. CrewConnect Edge deploys quantized on-device neural speech models directly onto the aircraft's local intranet server, delivering sub-second speech-to-text and translation between Indian languages and Japanese with zero cloud dependencies.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0">
                <a:solidFill>
                  <a:srgbClr val="70697C"/>
                </a:solidFill>
                <a:latin typeface="Segoe UI"/>
              </a:defRPr>
            </a:pPr>
            <a:r>
              <a:t>Candidate Team: [Your Team Name]  |  Phase 1 Submission Deck (Strategic Architecture)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05740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563C8C"/>
                </a:solidFill>
                <a:latin typeface="Segoe UI"/>
              </a:defRPr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A28"/>
                </a:solidFill>
                <a:latin typeface="Segoe UI"/>
              </a:defRPr>
            </a:pPr>
            <a:r>
              <a:t>Problem Deconstruction: Why Current Solutions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685800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563C8C"/>
                </a:solidFill>
                <a:latin typeface="Segoe UI"/>
              </a:defRPr>
            </a:pPr>
            <a:r>
              <a:t>STRUCTURAL SYSTEM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63093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B0661C"/>
                </a:solidFill>
                <a:latin typeface="Segoe UI"/>
              </a:defRPr>
            </a:pPr>
            <a:r>
              <a:t>1. The In-Flight Connectivity Vacuum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34303E"/>
                </a:solidFill>
                <a:latin typeface="Segoe UI"/>
              </a:defRPr>
            </a:pPr>
            <a:r>
              <a:t>Commercial satellite internet is expensive, high-latency, and frequently offline over oceanic corridors, rendering standard cloud translation services (Google Translate, DeepL) completely unusable mid-flight.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B0661C"/>
                </a:solidFill>
                <a:latin typeface="Segoe UI"/>
              </a:defRPr>
            </a:pPr>
            <a:r>
              <a:t>2. Accent &amp; Dialect Acoustic Drift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34303E"/>
                </a:solidFill>
                <a:latin typeface="Segoe UI"/>
              </a:defRPr>
            </a:pPr>
            <a:r>
              <a:t>Regional Indian English accents (Tamil, Punjabi, Bengali) and Hindi colloquialisms severely degrade standard acoustic speech models trained on generic Western speech datasets.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B0661C"/>
                </a:solidFill>
                <a:latin typeface="Segoe UI"/>
              </a:defRPr>
            </a:pPr>
            <a:r>
              <a:t>3. High-Stakes In-Flight Miscommunication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34303E"/>
                </a:solidFill>
                <a:latin typeface="Segoe UI"/>
              </a:defRPr>
            </a:pPr>
            <a:r>
              <a:t>Misunderstanding critical passenger requests regarding medical symptoms, infant care, or severe food allergies poses severe operational and passenger safety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3383280" cy="1353312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0136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563C8C"/>
                </a:solidFill>
                <a:latin typeface="Segoe UI"/>
              </a:defRPr>
            </a:pPr>
            <a:r>
              <a:t>0 Cloud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58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1E1A28"/>
                </a:solidFill>
                <a:latin typeface="Segoe UI"/>
              </a:defRPr>
            </a:pPr>
            <a:r>
              <a:t>CRITICAL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53288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Standard translation APIs cannot run during oceanic cruise phases without high-cost satellite uplink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273552"/>
            <a:ext cx="3383280" cy="1353312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3832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563C8C"/>
                </a:solidFill>
                <a:latin typeface="Segoe UI"/>
              </a:defRPr>
            </a:pPr>
            <a:r>
              <a:t>22 Languages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840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1E1A28"/>
                </a:solidFill>
                <a:latin typeface="Segoe UI"/>
              </a:defRPr>
            </a:pPr>
            <a:r>
              <a:t>REGIONAL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1148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Official languages in India with distinct acoustic and phonological characteristics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855464"/>
            <a:ext cx="3383280" cy="1353312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96519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800" b="1">
                <a:solidFill>
                  <a:srgbClr val="563C8C"/>
                </a:solidFill>
                <a:latin typeface="Segoe UI"/>
              </a:defRPr>
            </a:pPr>
            <a:r>
              <a:t>&lt; 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42239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1">
                <a:solidFill>
                  <a:srgbClr val="1E1A28"/>
                </a:solidFill>
                <a:latin typeface="Segoe UI"/>
              </a:defRPr>
            </a:pPr>
            <a:r>
              <a:t>CABIN CREW PROFICIENCY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696712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International flight attendants fluent in Hindi or regional Indian languages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14884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563C8C"/>
                </a:solidFill>
                <a:latin typeface="Segoe UI"/>
              </a:defRPr>
            </a:pPr>
            <a:r>
              <a:t>TECHNICAL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300" b="1">
                <a:solidFill>
                  <a:srgbClr val="1E1A28"/>
                </a:solidFill>
                <a:latin typeface="Segoe UI"/>
              </a:defRPr>
            </a:pPr>
            <a:r>
              <a:t>Air-Gapped Edge Intelligence: Multi-Modal Translation at 35,000 Feet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28416" cy="438912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10312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PILLAR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1A28"/>
                </a:solidFill>
                <a:latin typeface="Segoe UI"/>
              </a:defRPr>
            </a:pPr>
            <a:r>
              <a:t>Local Intranet Edge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0896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HOW IT OPERATES: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287121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Entire speech recognition and translation stack runs on the aircraft's existing local server hardware (or Raspberry Pi edge node) accessible via local Wi-Fi with zero external internet.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9204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563C8C"/>
                </a:solidFill>
                <a:latin typeface="Segoe UI"/>
              </a:defRPr>
            </a:pPr>
            <a:r>
              <a:t>WHY THIS WINS: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138928"/>
            <a:ext cx="28712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70697C"/>
                </a:solidFill>
                <a:latin typeface="Segoe UI"/>
              </a:defRPr>
            </a:pPr>
            <a:r>
              <a:t>Guarantees 100% availability regardless of aircraft location, altitude, or satellite coverage.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920240"/>
            <a:ext cx="3328416" cy="438912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210312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PILLAR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14600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1A28"/>
                </a:solidFill>
                <a:latin typeface="Segoe UI"/>
              </a:defRPr>
            </a:pPr>
            <a:r>
              <a:t>Quantized Speech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0896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HOW IT OPERATES: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383280"/>
            <a:ext cx="287121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Employs an INT8-quantized Whisper model optimized for multi-core CPU inference, processing speech audio into text with high accuracy on Indian accents in under 800 milliseconds.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89204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563C8C"/>
                </a:solidFill>
                <a:latin typeface="Segoe UI"/>
              </a:defRPr>
            </a:pPr>
            <a:r>
              <a:t>WHY THIS WINS: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5138928"/>
            <a:ext cx="28712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70697C"/>
                </a:solidFill>
                <a:latin typeface="Segoe UI"/>
              </a:defRPr>
            </a:pPr>
            <a:r>
              <a:t>Eliminates latency and expensive onboard GPU server requirements.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920240"/>
            <a:ext cx="3328416" cy="438912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38744" y="210312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PILLAR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514600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600" b="1">
                <a:solidFill>
                  <a:srgbClr val="1E1A28"/>
                </a:solidFill>
                <a:latin typeface="Segoe UI"/>
              </a:defRPr>
            </a:pPr>
            <a:r>
              <a:t>Dual-Screen Synchronized PWA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10896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HOW IT OPERATES: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383280"/>
            <a:ext cx="287121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Passenger speaks into their personal smartphone browser; cabin crew receives Japanese text and synthesized voice prompts on their tablet, categorized by urgency (Medical, Meal, Comfort).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92040"/>
            <a:ext cx="28712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563C8C"/>
                </a:solidFill>
                <a:latin typeface="Segoe UI"/>
              </a:defRPr>
            </a:pPr>
            <a:r>
              <a:t>WHY THIS WINS: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5138928"/>
            <a:ext cx="287121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70697C"/>
                </a:solidFill>
                <a:latin typeface="Segoe UI"/>
              </a:defRPr>
            </a:pPr>
            <a:r>
              <a:t>Empowers crew to respond with pre-translated confirmation phrases in the passenger's native tongue.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60604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563C8C"/>
                </a:solidFill>
                <a:latin typeface="Segoe UI"/>
              </a:defRPr>
            </a:pPr>
            <a:r>
              <a:t>SYSTEM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A28"/>
                </a:solidFill>
                <a:latin typeface="Segoe UI"/>
              </a:defRPr>
            </a:pPr>
            <a:r>
              <a:t>How We Do It: Step-by-Step Functional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46888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E1A28"/>
                </a:solidFill>
                <a:latin typeface="Segoe UI"/>
              </a:defRPr>
            </a:pPr>
            <a:r>
              <a:t>Local Wi-Fi Captive Connection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26080"/>
            <a:ext cx="2103120" cy="320040"/>
          </a:xfrm>
          <a:prstGeom prst="roundRect">
            <a:avLst/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8094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Actor: Passenger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Passenger connects to in-flight Wi-Fi, navigates to local web portal ('crew.local'); no app installation or internet connection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1737360"/>
            <a:ext cx="246888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85032" y="192024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31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E1A28"/>
                </a:solidFill>
                <a:latin typeface="Segoe UI"/>
              </a:defRPr>
            </a:pPr>
            <a:r>
              <a:t>Voice Input 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85032" y="2926080"/>
            <a:ext cx="2103120" cy="320040"/>
          </a:xfrm>
          <a:prstGeom prst="roundRect">
            <a:avLst/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98094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Actor: Passenger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429000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Passenger taps microphone and speaks in Hindi or accented English: 'Mujhe thoda gunguna pani aur ek kambal chahiye.'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737360"/>
            <a:ext cx="246888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92024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31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E1A28"/>
                </a:solidFill>
                <a:latin typeface="Segoe UI"/>
              </a:defRPr>
            </a:pPr>
            <a:r>
              <a:t>Edge AI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2926080"/>
            <a:ext cx="2103120" cy="320040"/>
          </a:xfrm>
          <a:prstGeom prst="roundRect">
            <a:avLst/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98094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Actor: Aircraft Local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429000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INT8 Whisper converts audio to text; local MarianMT translates to Japanese with zero internet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0536" y="1737360"/>
            <a:ext cx="246888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43416" y="1920240"/>
            <a:ext cx="118872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STEP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331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500" b="1">
                <a:solidFill>
                  <a:srgbClr val="1E1A28"/>
                </a:solidFill>
                <a:latin typeface="Segoe UI"/>
              </a:defRPr>
            </a:pPr>
            <a:r>
              <a:t>Crew Tablet Alert &amp;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2926080"/>
            <a:ext cx="2103120" cy="320040"/>
          </a:xfrm>
          <a:prstGeom prst="roundRect">
            <a:avLst/>
          </a:prstGeom>
          <a:solidFill>
            <a:srgbClr val="FC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298094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1">
                <a:solidFill>
                  <a:srgbClr val="B0661C"/>
                </a:solidFill>
                <a:latin typeface="Segoe UI"/>
              </a:defRPr>
            </a:pPr>
            <a:r>
              <a:t>Actor: Cabin Attendant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3416" y="3429000"/>
            <a:ext cx="2103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Crew tablet displays translated Japanese text with a 'Comfort Request' tag. Crew taps 'Understood', transmitting confirmation back in Hindi.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60604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563C8C"/>
                </a:solidFill>
                <a:latin typeface="Segoe UI"/>
              </a:defRPr>
            </a:pPr>
            <a:r>
              <a:t>ENGINEERING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A28"/>
                </a:solidFill>
                <a:latin typeface="Segoe UI"/>
              </a:defRPr>
            </a:pPr>
            <a:r>
              <a:t>System Architecture, Data Pipelines &amp; Technical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303520" cy="1024128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563C8C"/>
                </a:solidFill>
                <a:latin typeface="Segoe UI"/>
              </a:defRPr>
            </a:pPr>
            <a:r>
              <a:t>Acoustic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830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B0661C"/>
                </a:solidFill>
                <a:latin typeface="Segoe UI"/>
              </a:defRPr>
            </a:pPr>
            <a:r>
              <a:t>faster-whisper (Whisper-small INT8)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34303E"/>
                </a:solidFill>
                <a:latin typeface="Segoe UI"/>
              </a:defRPr>
            </a:pPr>
            <a:r>
              <a:t>Quantized on-device speech-to-text running locally on CPU in under 800ms.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62072"/>
            <a:ext cx="5303520" cy="1024128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563C8C"/>
                </a:solidFill>
                <a:latin typeface="Segoe UI"/>
              </a:defRPr>
            </a:pPr>
            <a:r>
              <a:t>Neural Machine 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5351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B0661C"/>
                </a:solidFill>
                <a:latin typeface="Segoe UI"/>
              </a:defRPr>
            </a:pPr>
            <a:r>
              <a:t>Helsinki-NLP MarianMT (hi-en-jap)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34303E"/>
                </a:solidFill>
                <a:latin typeface="Segoe UI"/>
              </a:defRPr>
            </a:pPr>
            <a:r>
              <a:t>Lightweight offline translation pipeline optimized for localized domain vocabulary.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32504"/>
            <a:ext cx="5303520" cy="1024128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239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563C8C"/>
                </a:solidFill>
                <a:latin typeface="Segoe UI"/>
              </a:defRPr>
            </a:pPr>
            <a:r>
              <a:t>Local Network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1239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B0661C"/>
                </a:solidFill>
                <a:latin typeface="Segoe UI"/>
              </a:defRPr>
            </a:pPr>
            <a:r>
              <a:t>Local WebSockets over Aircraft Wi-Fi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34303E"/>
                </a:solidFill>
                <a:latin typeface="Segoe UI"/>
              </a:defRPr>
            </a:pPr>
            <a:r>
              <a:t>Sub-second bidirectional messaging over an air-gapped local area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202936"/>
            <a:ext cx="5303520" cy="1024128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943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563C8C"/>
                </a:solidFill>
                <a:latin typeface="Segoe UI"/>
              </a:defRPr>
            </a:pPr>
            <a:r>
              <a:t>Interface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2943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50" b="1">
                <a:solidFill>
                  <a:srgbClr val="B0661C"/>
                </a:solidFill>
                <a:latin typeface="Segoe UI"/>
              </a:defRPr>
            </a:pPr>
            <a:r>
              <a:t>Progressive Web App (PWA) in React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614416"/>
            <a:ext cx="49377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34303E"/>
                </a:solidFill>
                <a:latin typeface="Segoe UI"/>
              </a:defRPr>
            </a:pPr>
            <a:r>
              <a:t>Responsive UI running in standard mobile browsers without app store downloads.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4937760" cy="4535424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7451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563C8C"/>
                </a:solidFill>
                <a:latin typeface="Segoe UI"/>
              </a:defRPr>
            </a:pPr>
            <a:r>
              <a:t>DATA FLOW &amp; MATHEMATICAL FORMULATION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240280"/>
            <a:ext cx="44805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B0661C"/>
                </a:solidFill>
                <a:latin typeface="Segoe UI"/>
              </a:defRPr>
            </a:pPr>
            <a:r>
              <a:t>Zero-Internet Local Network Topology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 b="0">
                <a:solidFill>
                  <a:srgbClr val="34303E"/>
                </a:solidFill>
                <a:latin typeface="Segoe UI"/>
              </a:defRPr>
            </a:pPr>
            <a:r>
              <a:t>Passenger Phone &lt;--&gt; Aircraft Local Router &lt;--&gt; Edge Server (FastAPI + WebSocket) &lt;--&gt; Crew Tablet with complete air-gap protection.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B0661C"/>
                </a:solidFill>
                <a:latin typeface="Segoe UI"/>
              </a:defRPr>
            </a:pPr>
            <a:r>
              <a:t>Latency &amp; Quantization Benchmarks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 b="0">
                <a:solidFill>
                  <a:srgbClr val="34303E"/>
                </a:solidFill>
                <a:latin typeface="Segoe UI"/>
              </a:defRPr>
            </a:pPr>
            <a:r>
              <a:t>Whisper-small INT8 model footprint &lt;800MB RAM. End-to-end latency (Audio In -&gt; Japanese Text on Tablet) &lt;1.8 seconds on standard 4-core CPU.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150" b="1">
                <a:solidFill>
                  <a:srgbClr val="B0661C"/>
                </a:solidFill>
                <a:latin typeface="Segoe UI"/>
              </a:defRPr>
            </a:pPr>
            <a:r>
              <a:t>Privacy by Architecture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050" b="0">
                <a:solidFill>
                  <a:srgbClr val="34303E"/>
                </a:solidFill>
                <a:latin typeface="Segoe UI"/>
              </a:defRPr>
            </a:pPr>
            <a:r>
              <a:t>Audio data is processed purely in volatile memory and purged immediately; zero voice recordings are transmitted off-aircraft.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2514600" cy="292608"/>
          </a:xfrm>
          <a:prstGeom prst="roundRect">
            <a:avLst/>
          </a:prstGeom>
          <a:solidFill>
            <a:srgbClr val="ED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563C8C"/>
                </a:solidFill>
                <a:latin typeface="Segoe UI"/>
              </a:defRPr>
            </a:pPr>
            <a:r>
              <a:t>VALUE PROPOSITION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E1A28"/>
                </a:solidFill>
                <a:latin typeface="Segoe UI"/>
              </a:defRPr>
            </a:pPr>
            <a:r>
              <a:t>Business Feasibility, Live Pitch Demo &amp; Delivery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120640" cy="214884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563C8C"/>
                </a:solidFill>
                <a:latin typeface="Segoe UI"/>
              </a:defRPr>
            </a:pPr>
            <a:r>
              <a:t>COMMERCIAL &amp; OPERATIONAL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•  Eliminates satellite internet bandwidth consumption for in-flight service requests, saving substantial operational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•  Dramatically improves in-flight safety response time for non-English-speaking elderly passengers.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•  Differentiates Japan Airlines as the most culturally accessible and empathetic international carrier serving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5120640" cy="214884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B0661C"/>
                </a:solidFill>
                <a:latin typeface="Segoe UI"/>
              </a:defRPr>
            </a:pPr>
            <a:r>
              <a:t>EXACT LIVE PITCH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1.  Disconnect laptop and phone completely from the internet (Airplane Mode with local Wi-Fi only).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2.  Speak in Hindi: 'Mujhe sar dard ki dawai chahiye' (I need headache medicine).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532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34303E"/>
                </a:solidFill>
                <a:latin typeface="Segoe UI"/>
              </a:defRPr>
            </a:pPr>
            <a:r>
              <a:t>3.  Within 2 seconds, watch the crew tablet display Japanese text with a RED 'MEDICAL REQUEST' tag.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120640" cy="4526280"/>
          </a:xfrm>
          <a:prstGeom prst="roundRect">
            <a:avLst/>
          </a:prstGeom>
          <a:solidFill>
            <a:srgbClr val="EDEBF4"/>
          </a:solidFill>
          <a:ln w="12700">
            <a:solidFill>
              <a:srgbClr val="DA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1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00" b="1">
                <a:solidFill>
                  <a:srgbClr val="563C8C"/>
                </a:solidFill>
                <a:latin typeface="Segoe UI"/>
              </a:defRPr>
            </a:pPr>
            <a:r>
              <a:t>DEVELOPMENT &amp; ROLLOUT MILESTONES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331720"/>
            <a:ext cx="132588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MILESTONE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5000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1E1A28"/>
                </a:solidFill>
                <a:latin typeface="Segoe UI"/>
              </a:defRPr>
            </a:pPr>
            <a:r>
              <a:t>Offline Edge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1576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Quantized Whisper STT, local MarianMT translation, and dual-screen WebSocket sync.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410712"/>
            <a:ext cx="132588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MILESTONE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42900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1E1A28"/>
                </a:solidFill>
                <a:latin typeface="Segoe UI"/>
              </a:defRPr>
            </a:pPr>
            <a:r>
              <a:t>Domain Fine-Tuning &amp; 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94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Fine-tuning models on aviation vocabulary and expanding to Tamil, Telugu, and Punjabi.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489704"/>
            <a:ext cx="1325880" cy="292608"/>
          </a:xfrm>
          <a:prstGeom prst="roundRect">
            <a:avLst/>
          </a:prstGeom>
          <a:solidFill>
            <a:srgbClr val="56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MILESTONE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0799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1">
                <a:solidFill>
                  <a:srgbClr val="1E1A28"/>
                </a:solidFill>
                <a:latin typeface="Segoe UI"/>
              </a:defRPr>
            </a:pPr>
            <a:r>
              <a:t>JAL In-Flight Server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7375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050" b="0">
                <a:solidFill>
                  <a:srgbClr val="70697C"/>
                </a:solidFill>
                <a:latin typeface="Segoe UI"/>
              </a:defRPr>
            </a:pPr>
            <a:r>
              <a:t>Certification and deployment on JAL In-Flight Entertainment (IFE) cabin server hardware.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